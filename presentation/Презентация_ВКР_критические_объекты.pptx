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Сетевой организации важно знать критические объекты – элементы, отказ которых приводит к наибольшему обесточению. С одной стороны, данные о сетях доступны, с другой – поиск таких объектов требует анализа отказа каждого элемента, что вручную невыполнимо.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– повышение оперативности анализа данных об аварийных отключениях для выявления критических объектов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достижения цели решены семь частных задач.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Поиск критических объектов – конечный этап цепочки: данные о сети, топологическая модель, моделирование отказа каждого элемента, оценка последствий. Для оценки оперативности используются четыре показателя.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Коммерческие ГИС порождают вендорную зависимость, базовая QGIS не умеет моделировать отказы. Выбрана открытая цепочка QGIS, Python и GeoPackage.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Исходные данные – открытый набор NVE. Топологическая модель – представление сети графом «узлы – рёбра»; в исходных данных её нет, поэтому она строится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Используются списки смежности; инкрементальный поиск в ширину в 36 раз быстрее полного обхода, что и делает возможным анализ отказов всех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Сеть описана графом с источниками питания. Отказ элемента – удаление его из графа. Узлы, до которых после отказа есть путь от источника, находятся под напряжением; остальные, питавшиеся в нормальном режиме, обесточены. Цвета схемы соответствуют значениям функции состояния.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Критичность элемента – суммарная длина участков, обесточенных его отказом. Для линии B–F это 11,5 км. Перебор отказов всех элементов даёт ранжирование; элементы с критичностью не ниже порога W* считаются критическими.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Инкрементальный алгоритм ведёт поиск только от места отказа и останавливается на ближайшем источнике. Это ускоряет расчёт в 36 раз и делает возможным перебор отказов всех элементов.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Критичность элемента оценивается протяжённостью сети, обесточиваемой при его отказе. Оперативность – временем анализа отказов всех элементов и производными показателями.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Методика включает шесть этапов: подготовка данных, построение и проверка топологической модели, перебор отказов, анализ последствий и ранжирование элементов по критичности.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Алгоритм поиска критических объектов перебирает отказы всех элементов, для каждого рассчитывает последствия и ранжирует элементы по критичности.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алгоритма работы программы выполнена по ГОСТ 19.701–90.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Программа описана как композиция четырёх операторов: построение модели, анализ отказа, перебор отказов и ранжирование. Под каждым оператором – иллюстрация, формула и время выполнения.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отказа начинается от стартовых узлов – концов отказавшей линии. Из узла B поиск быстро находит источник, и фрагмент остаётся под напряжением; из узла F источник не найден, фрагмент обесточен. Остальная сеть не просматривается, поэтому расчёт в 36 раз быстрее полного обхода.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Программный комплекс состоит из вычислительного ядра, хранилища модели в GeoPackage, модуля расчёта и интерфейса в QGIS.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Оператор выбирает элемент поиском или щелчком на карте и сразу видит последствия его отказа; анализ N-1 запускается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N-1 выявил критические подстанции; наиболее опасна NORSENGA – её отказ обесточивает 378 км линий.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Большинство подстанций обесточивает при отказе небольшую часть сети, но 67 подстанций обесточивают более 100 км линий – они и являются наиболее критичными.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Отказ наиболее критичной подстанции NORSENGA обесточивает 717 участков протяжённостью 378 км.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Отказ магистрали 420 кВ целиком обесточивает лишь два участка: кольцевая сеть резервируется, поэтому объект не критичен.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подтвердил методику: анализ N-1 всех линий сокращается с 11 600 часов до 4,5 минуты, результат совпадает с эталоном.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построены по проблемам из актуальности. Цель достигнута. Доклад окончен, благодарю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402336"/>
            <a:ext cx="10881360" cy="2148840"/>
          </a:xfrm>
          <a:prstGeom prst="rect">
            <a:avLst/>
          </a:prstGeom>
          <a:solidFill>
            <a:srgbClr val="F2F1F5">
              <a:alpha val="80000"/>
            </a:srgbClr>
          </a:solidFill>
          <a:ln w="12700">
            <a:solidFill>
              <a:srgbClr val="F2F1F5">
                <a:alpha val="80000"/>
              </a:srgbClr>
            </a:solidFill>
            <a:prstDash val="solid"/>
          </a:ln>
        </p:spPr>
      </p:sp>
      <p:pic>
        <p:nvPicPr>
          <p:cNvPr id="3" name="Image 0" descr="deck2/logo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548640"/>
            <a:ext cx="1197864" cy="11155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57200"/>
            <a:ext cx="923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2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оперативности анализа данных об аварийных отключениях электрической сети на основе её топологической модели в ГИС QGIS (на примере электросети Норвегии)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800600" y="5074920"/>
            <a:ext cx="7360920" cy="1325880"/>
          </a:xfrm>
          <a:prstGeom prst="rect">
            <a:avLst/>
          </a:prstGeom>
          <a:solidFill>
            <a:srgbClr val="F2F1F5">
              <a:alpha val="80000"/>
            </a:srgbClr>
          </a:solidFill>
          <a:ln w="12700">
            <a:solidFill>
              <a:srgbClr val="F2F1F5">
                <a:alpha val="8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516636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студент группы [номер] [И.О. Фамилия]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руководитель: [должность, учёная степень, И.О. Фамилия]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проблемная ситуация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o2_1t"/>
          <p:cNvSpPr txBox="1"/>
          <p:nvPr/>
        </p:nvSpPr>
        <p:spPr>
          <a:xfrm>
            <a:off x="457200" y="868680"/>
            <a:ext cx="112471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Обстановка: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Надёжность электроснабжения – регулируемый показатель (П SAIDI, П SAIFI); сетевая организация должна знать критические объекты – элементы, отказ которых обесточивает наибольшую часть сети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о сетях ведутся в ГИС и публикуются открыто: набор NVE – 155 тыс. линий и 734 тыс. опор Норвегии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57200" y="233172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9" name="o2_2t"/>
          <p:cNvSpPr txBox="1"/>
          <p:nvPr/>
        </p:nvSpPr>
        <p:spPr>
          <a:xfrm>
            <a:off x="457200" y="2423160"/>
            <a:ext cx="54864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одной стороны: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Доступны полные пространственные данные о сетях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требования к надёжности и обоснованию резервирования (критерий N-1)</a:t>
            </a:r>
            <a:endParaRPr lang="en-US" sz="1800" dirty="0"/>
          </a:p>
        </p:txBody>
      </p:sp>
      <p:sp>
        <p:nvSpPr>
          <p:cNvPr id="10" name="o2_3t"/>
          <p:cNvSpPr txBox="1"/>
          <p:nvPr/>
        </p:nvSpPr>
        <p:spPr>
          <a:xfrm>
            <a:off x="6217920" y="2423160"/>
            <a:ext cx="54864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другой стороны: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поиска критических объектов нужно проанализировать отказ каждого элемента: вручную ≈ 13 мин на отказ, для 97 тыс. линий ≈ 11 600 ч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ГИС-данные не топологические (72 245 висячих концов)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Коммерческие ГИС – вендорная зависимость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498348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2" name="o2_4t"/>
          <p:cNvSpPr txBox="1"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решения: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построение топологической модели в ГИС QGIS и программное моделирование отказа каждого элемента с ранжированием по последствиям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Тема, цель, объект и предмет исследования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o3_1t"/>
          <p:cNvSpPr txBox="1"/>
          <p:nvPr/>
        </p:nvSpPr>
        <p:spPr>
          <a:xfrm>
            <a:off x="457200" y="868680"/>
            <a:ext cx="112471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работы: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оперативности анализа данных об аварийных отключениях электрической сети для выявления её критических (наиболее опасных) объектов за счёт автоматизированного построения топологической модели в ГИС QGIS и программного моделирования отказов элементов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57200" y="246888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9" name="o3_2t"/>
          <p:cNvSpPr txBox="1"/>
          <p:nvPr/>
        </p:nvSpPr>
        <p:spPr>
          <a:xfrm>
            <a:off x="457200" y="2560320"/>
            <a:ext cx="54864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исследования: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анализа данных об аварийных отключениях элементов электрической сети</a:t>
            </a:r>
            <a:endParaRPr lang="en-US" sz="1900" dirty="0"/>
          </a:p>
        </p:txBody>
      </p:sp>
      <p:sp>
        <p:nvSpPr>
          <p:cNvPr id="10" name="o3_3t"/>
          <p:cNvSpPr txBox="1"/>
          <p:nvPr/>
        </p:nvSpPr>
        <p:spPr>
          <a:xfrm>
            <a:off x="6217920" y="2560320"/>
            <a:ext cx="548640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исследования: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построения топологической модели сети и алгоритмы оперативного определения последствий отказов и критических объектов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Требование к решению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 анализа отказа одного элемента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более 1 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отказов всех элементов сети (N-1)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минуты вместо тысяч часов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Полнота выявления обесточенных участков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Программные средства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открытые: QGIS, Python, GeoPackage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Частные задачи выпускной квалификационной работы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914400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анализа отключений и поиска критических объектов, показатели оперативности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664208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682496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Топологическое качество исходных данных электросети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2432304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450592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ГИС-платформ, выбор открытых средств и форматов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3218688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Графовая модель сети и правила построения топологической модели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3986784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обесточения, показатель критичности объекта и алгоритм их расчёта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736592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754880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и программный комплекс для консоли QGIS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5504688"/>
            <a:ext cx="9235440" cy="914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5522976"/>
            <a:ext cx="92354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критических объектов электросети Норвегии, оценка оперативности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9875520" y="914400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1.1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875520" y="1682496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1.2, 1.5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9875520" y="2450592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1.3, 1.4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875520" y="3218688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2.1, 2.2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875520" y="3986784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2.3–2.5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875520" y="4754880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2.6, 3.1–3.3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9875520" y="5522976"/>
            <a:ext cx="18288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разд. 3.4–3.6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поиска критических объектов в управлении надёжностью сети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1 · задача 1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100584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о сети (ГИС)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697480" y="100584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Топологическая модель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00584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отказа каждого элемента (N-1)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178040" y="100584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последствий отказа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418320" y="1005840"/>
            <a:ext cx="2057400" cy="96012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ОБЪЕКТЫ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514600" y="1481328"/>
            <a:ext cx="18288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754880" y="1481328"/>
            <a:ext cx="18288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995160" y="1481328"/>
            <a:ext cx="18288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9235440" y="1481328"/>
            <a:ext cx="18288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941832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конечный этап</a:t>
            </a:r>
            <a:endParaRPr lang="en-US" sz="1300" dirty="0"/>
          </a:p>
        </p:txBody>
      </p:sp>
      <p:sp>
        <p:nvSpPr>
          <p:cNvPr id="18" name="o5_1t"/>
          <p:cNvSpPr txBox="1"/>
          <p:nvPr/>
        </p:nvSpPr>
        <p:spPr>
          <a:xfrm>
            <a:off x="457200" y="2514600"/>
            <a:ext cx="5486400" cy="3749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перечня критических объектов: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Резервирование и усиление сети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Приоритетное обслуживание и ремонт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 ремонтных схем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Оперативное реагирование при аварии</a:t>
            </a:r>
            <a:endParaRPr lang="en-US" sz="1900" dirty="0"/>
          </a:p>
        </p:txBody>
      </p:sp>
      <p:sp>
        <p:nvSpPr>
          <p:cNvPr id="19" name="o5_2t"/>
          <p:cNvSpPr txBox="1"/>
          <p:nvPr/>
        </p:nvSpPr>
        <p:spPr>
          <a:xfrm>
            <a:off x="6217920" y="2514600"/>
            <a:ext cx="5486400" cy="3749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оперативности: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ан – время анализа отказа одного элемента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N-1 – время анализа отказов всех элементов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оп = T руч / T авт – коэффициент повышения оперативности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св – вероятность своевременного анализа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Ограничение: полнота 100 %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ГИС-платформ и выбор средств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1 · задача 3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  <a:gridCol w="1371600"/>
                <a:gridCol w="1325880"/>
                <a:gridCol w="1234440"/>
                <a:gridCol w="14173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Критерий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ArcGIS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MapInfo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GRASS GIS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QGIS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Ручной анализ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Разработка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Лицензия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коммерческая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коммерческая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GNU GPL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GNU GPL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Топологическая модель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частично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Связность, несколько источников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 (Utility Network)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частично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N-1 всей сети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настройкой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невыполним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минуты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Формат данных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база геоданных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собственный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открытые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схема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GPKG, SHP, FileGDB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Программирование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ArcPy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MapBasic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PyQGIS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o6_1t"/>
          <p:cNvSpPr txBox="1"/>
          <p:nvPr/>
        </p:nvSpPr>
        <p:spPr>
          <a:xfrm>
            <a:off x="457200" y="4709160"/>
            <a:ext cx="112471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QGIS + Python без сторонних библиотек + GeoPackage (открытый стандарт OGC) – без вендорной зависимости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Исходная FileGDB читается открытым драйвером GDAL, без ПО Esri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данные: электросеть Норвегии (NVE)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1 · задача 2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pic>
        <p:nvPicPr>
          <p:cNvPr id="8" name="Image 2" descr="deck2/norge_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850900"/>
            <a:ext cx="4480560" cy="5476240"/>
          </a:xfrm>
          <a:prstGeom prst="rect">
            <a:avLst/>
          </a:prstGeom>
        </p:spPr>
      </p:pic>
      <p:sp>
        <p:nvSpPr>
          <p:cNvPr id="9" name="o7_1t"/>
          <p:cNvSpPr txBox="1"/>
          <p:nvPr/>
        </p:nvSpPr>
        <p:spPr>
          <a:xfrm>
            <a:off x="457200" y="868680"/>
            <a:ext cx="667512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 NVE «Nettanlegg», FileGDB, EPSG:25833: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154 506 линий 0,4–420 кВ общей длиной 97,5 тыс. км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2 090 трансформаторных станций, 734 293 опоры</a:t>
            </a:r>
            <a:endParaRPr lang="en-US" sz="1900" dirty="0"/>
          </a:p>
        </p:txBody>
      </p:sp>
      <p:sp>
        <p:nvSpPr>
          <p:cNvPr id="10" name="Shape 5"/>
          <p:cNvSpPr/>
          <p:nvPr/>
        </p:nvSpPr>
        <p:spPr>
          <a:xfrm>
            <a:off x="457200" y="306324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1" name="o7_2t"/>
          <p:cNvSpPr txBox="1"/>
          <p:nvPr/>
        </p:nvSpPr>
        <p:spPr>
          <a:xfrm>
            <a:off x="457200" y="3154680"/>
            <a:ext cx="667512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Топологическое качество: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Топологическая модель – представление сети графом «узлы – рёбра», в котором каждая линия ссылается на свои начальный и конечный узлы; в исходных данных её нет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72 245 висячих концов линий, 554 дубликата, ответвления без узлов</a:t>
            </a:r>
            <a:endParaRPr lang="en-US" sz="19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подземных кабелей и электростанций</a:t>
            </a:r>
            <a:endParaRPr lang="en-US" sz="19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сети графом и выбор алгоритма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задача 4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8" name="o8_1t"/>
          <p:cNvSpPr txBox="1"/>
          <p:nvPr/>
        </p:nvSpPr>
        <p:spPr>
          <a:xfrm>
            <a:off x="457200" y="868680"/>
            <a:ext cx="548640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G = (V, E):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Матрица смежности для n = 159 543 узлов – 25,5 ГБ, ненулевых ≈ 10⁻⁵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– списки смежности, память O(|V| + |E|)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Обход: поиск в глубину (DFS) или в ширину (BFS)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Алгоритм (сеть Норвегии)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Время, мс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Компоненты связности, DFS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121,5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Компоненты связности, BFS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135,5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Многоисточниковый BFS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Инкрементальный BFS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2" descr="deck2/inc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452" y="3794760"/>
            <a:ext cx="6154615" cy="22860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57200" y="60990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расчёта последствий одного отказа: полный и инкрементальный обход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Математическое описание модели: сеть и отказ элемента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задачи 4, 5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2541118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71523" y="2541118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657246" y="2541118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42970" y="2541118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28693" y="2541118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14416" y="2541118"/>
            <a:ext cx="1030529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57246" y="2541118"/>
            <a:ext cx="914" cy="985723"/>
          </a:xfrm>
          <a:prstGeom prst="line">
            <a:avLst/>
          </a:prstGeom>
          <a:noFill/>
          <a:ln w="44450">
            <a:solidFill>
              <a:srgbClr val="D62828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 flipV="1">
            <a:off x="1805940" y="3526841"/>
            <a:ext cx="851306" cy="940918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657246" y="3526841"/>
            <a:ext cx="851306" cy="940918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08553" y="4467758"/>
            <a:ext cx="985723" cy="672084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805940" y="4467758"/>
            <a:ext cx="914" cy="761695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 flipV="1">
            <a:off x="4628693" y="1600200"/>
            <a:ext cx="914" cy="940918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V="1">
            <a:off x="3642970" y="1600200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642970" y="1600200"/>
            <a:ext cx="914" cy="940918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28693" y="1600200"/>
            <a:ext cx="98572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" y="2330806"/>
            <a:ext cx="420624" cy="42062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461211" y="233080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446934" y="233080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432658" y="233080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418381" y="233080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404104" y="233080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34633" y="2330806"/>
            <a:ext cx="420624" cy="42062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И2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446934" y="3316529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595628" y="4257446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298241" y="4257446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283964" y="4929530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418381" y="13898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3432658" y="13898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404104" y="138988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1595628" y="5019142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5972861" y="3885286"/>
            <a:ext cx="914400" cy="914"/>
          </a:xfrm>
          <a:prstGeom prst="line">
            <a:avLst/>
          </a:prstGeom>
          <a:noFill/>
          <a:ln w="38100">
            <a:solidFill>
              <a:srgbClr val="9AA3A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762549" y="367497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676949" y="367497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5515661" y="413217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3 (разрыв данных)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365760" y="279715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∈ S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5959145" y="279715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∈ S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2766974" y="2887675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1400" b="1" baseline="-40000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algn="l"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{B–F}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3277210" y="1033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– узлы под напряжением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4814316" y="457291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pPr algn="l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</a:t>
            </a:r>
            <a:pPr algn="l" indent="0" marL="0">
              <a:buNone/>
            </a:pPr>
            <a:r>
              <a:rPr lang="en-US" sz="1500" b="1" baseline="-40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 L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4814316" y="486552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{F, G, H, K, R}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7589520" y="914400"/>
            <a:ext cx="914" cy="534924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863840" y="960120"/>
            <a:ext cx="237744" cy="23774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321040" y="8961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(V, E),   S ⊆ V</a:t>
            </a:r>
            <a:endParaRPr lang="en-US" sz="1700" dirty="0"/>
          </a:p>
        </p:txBody>
      </p:sp>
      <p:sp>
        <p:nvSpPr>
          <p:cNvPr id="51" name="Text 47"/>
          <p:cNvSpPr txBox="1"/>
          <p:nvPr/>
        </p:nvSpPr>
        <p:spPr>
          <a:xfrm>
            <a:off x="8321040" y="128016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сети: узлы V, участки E; источники питания S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7772400" y="1975104"/>
            <a:ext cx="420624" cy="914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321040" y="17922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(u, v, U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00" dirty="0"/>
          </a:p>
        </p:txBody>
      </p:sp>
      <p:sp>
        <p:nvSpPr>
          <p:cNvPr id="54" name="Text 50"/>
          <p:cNvSpPr txBox="1"/>
          <p:nvPr/>
        </p:nvSpPr>
        <p:spPr>
          <a:xfrm>
            <a:off x="8321040" y="21762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участок: концы, напряжение, длина (км), число опор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7772400" y="2871216"/>
            <a:ext cx="420624" cy="914"/>
          </a:xfrm>
          <a:prstGeom prst="line">
            <a:avLst/>
          </a:prstGeom>
          <a:noFill/>
          <a:ln w="38100">
            <a:solidFill>
              <a:srgbClr val="D62828"/>
            </a:solidFill>
            <a:prstDash val="dash"/>
          </a:ln>
        </p:spPr>
      </p:sp>
      <p:sp>
        <p:nvSpPr>
          <p:cNvPr id="56" name="Text 52"/>
          <p:cNvSpPr txBox="1"/>
          <p:nvPr/>
        </p:nvSpPr>
        <p:spPr>
          <a:xfrm>
            <a:off x="8321040" y="268833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G′ = (V \ V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\ E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00" dirty="0"/>
          </a:p>
        </p:txBody>
      </p:sp>
      <p:sp>
        <p:nvSpPr>
          <p:cNvPr id="57" name="Text 53"/>
          <p:cNvSpPr txBox="1"/>
          <p:nvPr/>
        </p:nvSpPr>
        <p:spPr>
          <a:xfrm>
            <a:off x="8321040" y="30723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отказ: элемент j удаляется из графа (E</a:t>
            </a:r>
            <a:pPr indent="0" marL="0">
              <a:buNone/>
            </a:pPr>
            <a:r>
              <a:rPr lang="en-US" sz="130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{j} или V</a:t>
            </a:r>
            <a:pPr indent="0" marL="0">
              <a:buNone/>
            </a:pPr>
            <a:r>
              <a:rPr lang="en-US" sz="130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{j})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7772400" y="3767328"/>
            <a:ext cx="420624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8321040" y="35844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{ v : ∃ s ∈ S, путь s → v в G′ }</a:t>
            </a:r>
            <a:endParaRPr lang="en-US" sz="1700" dirty="0"/>
          </a:p>
        </p:txBody>
      </p:sp>
      <p:sp>
        <p:nvSpPr>
          <p:cNvPr id="60" name="Text 56"/>
          <p:cNvSpPr txBox="1"/>
          <p:nvPr/>
        </p:nvSpPr>
        <p:spPr>
          <a:xfrm>
            <a:off x="8321040" y="39684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узлы под напряжением после отказа; L</a:t>
            </a:r>
            <a:pPr indent="0" marL="0">
              <a:buNone/>
            </a:pPr>
            <a:r>
              <a:rPr lang="en-US" sz="130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L(∅) – в нормальном режиме</a:t>
            </a:r>
            <a:endParaRPr lang="en-US" sz="1300" dirty="0"/>
          </a:p>
        </p:txBody>
      </p:sp>
      <p:sp>
        <p:nvSpPr>
          <p:cNvPr id="61" name="Shape 57"/>
          <p:cNvSpPr/>
          <p:nvPr/>
        </p:nvSpPr>
        <p:spPr>
          <a:xfrm>
            <a:off x="7854696" y="4535424"/>
            <a:ext cx="256032" cy="25603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8321040" y="4480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\ L</a:t>
            </a:r>
            <a:endParaRPr lang="en-US" sz="1700" dirty="0"/>
          </a:p>
        </p:txBody>
      </p:sp>
      <p:sp>
        <p:nvSpPr>
          <p:cNvPr id="63" name="Text 59"/>
          <p:cNvSpPr txBox="1"/>
          <p:nvPr/>
        </p:nvSpPr>
        <p:spPr>
          <a:xfrm>
            <a:off x="8321040" y="48646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обесточенные узлы: были под напряжением и потеряли связь с источниками</a:t>
            </a:r>
            <a:endParaRPr lang="en-US" sz="1300" dirty="0"/>
          </a:p>
        </p:txBody>
      </p:sp>
      <p:sp>
        <p:nvSpPr>
          <p:cNvPr id="64" name="Text 60"/>
          <p:cNvSpPr txBox="1"/>
          <p:nvPr/>
        </p:nvSpPr>
        <p:spPr>
          <a:xfrm>
            <a:off x="7772400" y="5376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σ(e) – состояние участка:</a:t>
            </a:r>
            <a:endParaRPr lang="en-US" sz="1700" dirty="0"/>
          </a:p>
        </p:txBody>
      </p:sp>
      <p:sp>
        <p:nvSpPr>
          <p:cNvPr id="65" name="Shape 61"/>
          <p:cNvSpPr/>
          <p:nvPr/>
        </p:nvSpPr>
        <p:spPr>
          <a:xfrm>
            <a:off x="7772400" y="5925312"/>
            <a:ext cx="365760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8211312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под напряжением</a:t>
            </a:r>
            <a:endParaRPr lang="en-US" sz="1150" dirty="0"/>
          </a:p>
        </p:txBody>
      </p:sp>
      <p:sp>
        <p:nvSpPr>
          <p:cNvPr id="67" name="Shape 63"/>
          <p:cNvSpPr/>
          <p:nvPr/>
        </p:nvSpPr>
        <p:spPr>
          <a:xfrm>
            <a:off x="9784080" y="5925312"/>
            <a:ext cx="365760" cy="914"/>
          </a:xfrm>
          <a:prstGeom prst="line">
            <a:avLst/>
          </a:prstGeom>
          <a:noFill/>
          <a:ln w="38100">
            <a:solidFill>
              <a:srgbClr val="D62828"/>
            </a:solidFill>
            <a:prstDash val="dash"/>
          </a:ln>
        </p:spPr>
      </p:sp>
      <p:sp>
        <p:nvSpPr>
          <p:cNvPr id="68" name="Text 64"/>
          <p:cNvSpPr txBox="1"/>
          <p:nvPr/>
        </p:nvSpPr>
        <p:spPr>
          <a:xfrm>
            <a:off x="10222992" y="57881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отказал</a:t>
            </a:r>
            <a:endParaRPr lang="en-US" sz="1150" dirty="0"/>
          </a:p>
        </p:txBody>
      </p:sp>
      <p:sp>
        <p:nvSpPr>
          <p:cNvPr id="69" name="Shape 65"/>
          <p:cNvSpPr/>
          <p:nvPr/>
        </p:nvSpPr>
        <p:spPr>
          <a:xfrm>
            <a:off x="7772400" y="6254496"/>
            <a:ext cx="365760" cy="914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8211312" y="6117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обесточен отказом</a:t>
            </a:r>
            <a:endParaRPr lang="en-US" sz="1150" dirty="0"/>
          </a:p>
        </p:txBody>
      </p:sp>
      <p:sp>
        <p:nvSpPr>
          <p:cNvPr id="71" name="Shape 67"/>
          <p:cNvSpPr/>
          <p:nvPr/>
        </p:nvSpPr>
        <p:spPr>
          <a:xfrm>
            <a:off x="9784080" y="6254496"/>
            <a:ext cx="365760" cy="914"/>
          </a:xfrm>
          <a:prstGeom prst="line">
            <a:avLst/>
          </a:prstGeom>
          <a:noFill/>
          <a:ln w="38100">
            <a:solidFill>
              <a:srgbClr val="9AA3AD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10222992" y="611733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не питается и в норм. режиме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Математическое описание модели: критичность объектов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задача 5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868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линии B–F (длины участков, км):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402129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84402" y="2402129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128723" y="2402129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73045" y="2402129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17366" y="2402129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61688" y="2402129"/>
            <a:ext cx="778154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28723" y="2402129"/>
            <a:ext cx="914" cy="744322"/>
          </a:xfrm>
          <a:prstGeom prst="line">
            <a:avLst/>
          </a:prstGeom>
          <a:noFill/>
          <a:ln w="38100">
            <a:solidFill>
              <a:srgbClr val="D62828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 flipV="1">
            <a:off x="1485900" y="3146450"/>
            <a:ext cx="642823" cy="710489"/>
          </a:xfrm>
          <a:prstGeom prst="line">
            <a:avLst/>
          </a:prstGeom>
          <a:noFill/>
          <a:ln w="44450">
            <a:solidFill>
              <a:srgbClr val="E67E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128723" y="3146450"/>
            <a:ext cx="642823" cy="710489"/>
          </a:xfrm>
          <a:prstGeom prst="line">
            <a:avLst/>
          </a:prstGeom>
          <a:noFill/>
          <a:ln w="44450">
            <a:solidFill>
              <a:srgbClr val="E67E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71546" y="3856939"/>
            <a:ext cx="744322" cy="507492"/>
          </a:xfrm>
          <a:prstGeom prst="line">
            <a:avLst/>
          </a:prstGeom>
          <a:noFill/>
          <a:ln w="44450">
            <a:solidFill>
              <a:srgbClr val="E67E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85900" y="3856939"/>
            <a:ext cx="914" cy="575158"/>
          </a:xfrm>
          <a:prstGeom prst="line">
            <a:avLst/>
          </a:prstGeom>
          <a:noFill/>
          <a:ln w="44450">
            <a:solidFill>
              <a:srgbClr val="E67E2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V="1">
            <a:off x="3617366" y="1691640"/>
            <a:ext cx="914" cy="710489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 flipV="1">
            <a:off x="2873045" y="1691640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73045" y="1691640"/>
            <a:ext cx="914" cy="710489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617366" y="1691640"/>
            <a:ext cx="744322" cy="914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7921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482242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2226564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2970886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715207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476445" y="207294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101291" y="263713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1779880" y="336453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2422703" y="336453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3116275" y="3973525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1458468" y="400735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3589934" y="19097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2970886" y="1362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2845613" y="19097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3715207" y="1362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66344" y="2228393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И1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1210666" y="2228393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1954987" y="2228393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2699309" y="2228393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3443630" y="2228393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187952" y="2228393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966106" y="2228393"/>
            <a:ext cx="347472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И2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1954987" y="2972714"/>
            <a:ext cx="347472" cy="34747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312164" y="3683203"/>
            <a:ext cx="347472" cy="34747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2597810" y="3683203"/>
            <a:ext cx="347472" cy="34747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3342132" y="4190695"/>
            <a:ext cx="347472" cy="34747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3443630" y="151790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2699309" y="151790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4187952" y="151790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1312164" y="4258361"/>
            <a:ext cx="347472" cy="347472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54" name="Text 50"/>
          <p:cNvSpPr txBox="1"/>
          <p:nvPr/>
        </p:nvSpPr>
        <p:spPr>
          <a:xfrm>
            <a:off x="457200" y="46451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B–F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l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l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l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l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</a:t>
            </a:r>
            <a:endParaRPr lang="en-US" sz="1600" dirty="0"/>
          </a:p>
        </p:txBody>
      </p:sp>
      <p:sp>
        <p:nvSpPr>
          <p:cNvPr id="55" name="Text 51"/>
          <p:cNvSpPr txBox="1"/>
          <p:nvPr/>
        </p:nvSpPr>
        <p:spPr>
          <a:xfrm>
            <a:off x="457200" y="496519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 + 2,5 + 3 + 2 = 11,5 км</a:t>
            </a:r>
            <a:endParaRPr lang="en-US" sz="1600" dirty="0"/>
          </a:p>
        </p:txBody>
      </p:sp>
      <p:sp>
        <p:nvSpPr>
          <p:cNvPr id="56" name="Text 52"/>
          <p:cNvSpPr txBox="1"/>
          <p:nvPr/>
        </p:nvSpPr>
        <p:spPr>
          <a:xfrm>
            <a:off x="457200" y="53492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e∈E_out(j)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 N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уч,j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|E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(j)|,   N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оп,j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e∈E_out(j)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57" name="Text 53"/>
          <p:cNvSpPr txBox="1"/>
          <p:nvPr/>
        </p:nvSpPr>
        <p:spPr>
          <a:xfrm>
            <a:off x="457200" y="5733288"/>
            <a:ext cx="5760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30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(j) = { e : σ(e) = 2 } – участки, обесточенные отказом j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6400800" y="914400"/>
            <a:ext cx="914" cy="534924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583680" y="868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Перебор отказов всех элементов (N-1) и ранжирование:</a:t>
            </a:r>
            <a:endParaRPr lang="en-US" sz="1500" dirty="0"/>
          </a:p>
        </p:txBody>
      </p:sp>
      <p:sp>
        <p:nvSpPr>
          <p:cNvPr id="60" name="Text 56"/>
          <p:cNvSpPr txBox="1"/>
          <p:nvPr/>
        </p:nvSpPr>
        <p:spPr>
          <a:xfrm>
            <a:off x="6492240" y="137160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B–F</a:t>
            </a: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7726680" y="1408176"/>
            <a:ext cx="3291840" cy="31089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1073384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</a:t>
            </a:r>
            <a:endParaRPr lang="en-US" sz="1400" dirty="0"/>
          </a:p>
        </p:txBody>
      </p:sp>
      <p:sp>
        <p:nvSpPr>
          <p:cNvPr id="63" name="Text 59"/>
          <p:cNvSpPr txBox="1"/>
          <p:nvPr/>
        </p:nvSpPr>
        <p:spPr>
          <a:xfrm>
            <a:off x="6492240" y="179222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 B</a:t>
            </a:r>
            <a:endParaRPr lang="en-US" sz="1400" dirty="0"/>
          </a:p>
        </p:txBody>
      </p:sp>
      <p:sp>
        <p:nvSpPr>
          <p:cNvPr id="64" name="Shape 60"/>
          <p:cNvSpPr/>
          <p:nvPr/>
        </p:nvSpPr>
        <p:spPr>
          <a:xfrm>
            <a:off x="7726680" y="1828800"/>
            <a:ext cx="3291840" cy="31089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11073384" y="17922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</a:t>
            </a:r>
            <a:endParaRPr lang="en-US" sz="1400" dirty="0"/>
          </a:p>
        </p:txBody>
      </p:sp>
      <p:sp>
        <p:nvSpPr>
          <p:cNvPr id="66" name="Text 62"/>
          <p:cNvSpPr txBox="1"/>
          <p:nvPr/>
        </p:nvSpPr>
        <p:spPr>
          <a:xfrm>
            <a:off x="6492240" y="2212848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 F</a:t>
            </a:r>
            <a:endParaRPr lang="en-US" sz="1400" dirty="0"/>
          </a:p>
        </p:txBody>
      </p:sp>
      <p:sp>
        <p:nvSpPr>
          <p:cNvPr id="67" name="Shape 63"/>
          <p:cNvSpPr/>
          <p:nvPr/>
        </p:nvSpPr>
        <p:spPr>
          <a:xfrm>
            <a:off x="7726680" y="2249424"/>
            <a:ext cx="1431235" cy="310896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9212779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9" name="Text 65"/>
          <p:cNvSpPr txBox="1"/>
          <p:nvPr/>
        </p:nvSpPr>
        <p:spPr>
          <a:xfrm>
            <a:off x="6492240" y="26334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F–H</a:t>
            </a:r>
            <a:endParaRPr lang="en-US" sz="1400" dirty="0"/>
          </a:p>
        </p:txBody>
      </p:sp>
      <p:sp>
        <p:nvSpPr>
          <p:cNvPr id="70" name="Shape 66"/>
          <p:cNvSpPr/>
          <p:nvPr/>
        </p:nvSpPr>
        <p:spPr>
          <a:xfrm>
            <a:off x="7726680" y="2670048"/>
            <a:ext cx="858741" cy="310896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8640285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2" name="Text 68"/>
          <p:cNvSpPr txBox="1"/>
          <p:nvPr/>
        </p:nvSpPr>
        <p:spPr>
          <a:xfrm>
            <a:off x="6492240" y="3054096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F–G</a:t>
            </a:r>
            <a:endParaRPr lang="en-US" sz="1400" dirty="0"/>
          </a:p>
        </p:txBody>
      </p:sp>
      <p:sp>
        <p:nvSpPr>
          <p:cNvPr id="73" name="Shape 69"/>
          <p:cNvSpPr/>
          <p:nvPr/>
        </p:nvSpPr>
        <p:spPr>
          <a:xfrm>
            <a:off x="7726680" y="3090672"/>
            <a:ext cx="572494" cy="310896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8354038" y="3054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5" name="Shape 71"/>
          <p:cNvSpPr/>
          <p:nvPr/>
        </p:nvSpPr>
        <p:spPr>
          <a:xfrm>
            <a:off x="9157915" y="1325880"/>
            <a:ext cx="914" cy="2194560"/>
          </a:xfrm>
          <a:prstGeom prst="line">
            <a:avLst/>
          </a:prstGeom>
          <a:noFill/>
          <a:ln w="19050">
            <a:solidFill>
              <a:srgbClr val="D62828"/>
            </a:solidFill>
            <a:prstDash val="dash"/>
          </a:ln>
        </p:spPr>
      </p:sp>
      <p:sp>
        <p:nvSpPr>
          <p:cNvPr id="76" name="Text 72"/>
          <p:cNvSpPr txBox="1"/>
          <p:nvPr/>
        </p:nvSpPr>
        <p:spPr>
          <a:xfrm>
            <a:off x="9066475" y="3520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W* = 5 км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6583680" y="38039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23 элементов (магистраль, кольцо): W</a:t>
            </a:r>
            <a:pPr indent="0" marL="0">
              <a:buNone/>
            </a:pPr>
            <a:r>
              <a:rPr lang="en-US" sz="120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 – есть резерв</a:t>
            </a:r>
            <a:endParaRPr lang="en-US" sz="1200" dirty="0"/>
          </a:p>
        </p:txBody>
      </p:sp>
      <p:sp>
        <p:nvSpPr>
          <p:cNvPr id="78" name="Text 74"/>
          <p:cNvSpPr txBox="1"/>
          <p:nvPr/>
        </p:nvSpPr>
        <p:spPr>
          <a:xfrm>
            <a:off x="6583680" y="41605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{ j : W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W* }</a:t>
            </a:r>
            <a:endParaRPr lang="en-US" sz="1700" dirty="0"/>
          </a:p>
        </p:txBody>
      </p:sp>
      <p:sp>
        <p:nvSpPr>
          <p:cNvPr id="79" name="Text 75"/>
          <p:cNvSpPr txBox="1"/>
          <p:nvPr/>
        </p:nvSpPr>
        <p:spPr>
          <a:xfrm>
            <a:off x="6583680" y="4544568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объекты (тёмные столбцы): 3 элемента; в сети Норвегии при W* = 100 км – 67 подстанций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6583680" y="50292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π(1)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W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π(2)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… ≥ W</a:t>
            </a:r>
            <a:pPr indent="0" marL="0">
              <a:buNone/>
            </a:pPr>
            <a:r>
              <a:rPr lang="en-US" sz="17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π(m)</a:t>
            </a:r>
            <a:endParaRPr lang="en-US" sz="1700" dirty="0"/>
          </a:p>
        </p:txBody>
      </p:sp>
      <p:sp>
        <p:nvSpPr>
          <p:cNvPr id="81" name="Text 77"/>
          <p:cNvSpPr txBox="1"/>
          <p:nvPr/>
        </p:nvSpPr>
        <p:spPr>
          <a:xfrm>
            <a:off x="6583680" y="54132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– порядок элементов по убыванию критичности</a:t>
            </a:r>
            <a:endParaRPr lang="en-US" sz="1300" dirty="0"/>
          </a:p>
        </p:txBody>
      </p:sp>
      <p:sp>
        <p:nvSpPr>
          <p:cNvPr id="82" name="Text 78"/>
          <p:cNvSpPr txBox="1"/>
          <p:nvPr/>
        </p:nvSpPr>
        <p:spPr>
          <a:xfrm>
            <a:off x="457200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Допущения: топологическая модель (учитывается только связность), отказ одного элемента (N-1), коммутационные аппараты не моделируются.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Инкрементальный алгоритм расчёта последствий отказа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задача 5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423160" y="1280160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17320" y="91440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423160" y="1943100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46761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L₀ – узлы под напряжением (заранее)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423160" y="2606040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130552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отказавших элементов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23160" y="3268980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27934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Стартовые узлы – концы отказавших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423160" y="3931920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45643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в ширину до источника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9496" y="345643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06824" y="345643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23160" y="4796028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13816" y="4119372"/>
            <a:ext cx="3218688" cy="6766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достигнут?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039112" y="47777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423160" y="5458968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498348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обесточен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2423160" y="6121908"/>
            <a:ext cx="914" cy="1874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5646420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состояний элементов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417320" y="630936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032504" y="4457700"/>
            <a:ext cx="521208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V="1">
            <a:off x="4553712" y="3694176"/>
            <a:ext cx="914" cy="76352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H="1">
            <a:off x="4434840" y="3694176"/>
            <a:ext cx="11887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7"/>
          <p:cNvSpPr txBox="1"/>
          <p:nvPr/>
        </p:nvSpPr>
        <p:spPr>
          <a:xfrm>
            <a:off x="4050792" y="42382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4846320" y="914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Пояснения: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4846320" y="1371600"/>
            <a:ext cx="68580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Нормальный режим рассчитывается один раз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отказе поиск ведётся только от места отказа и останавливается на ближайшем источнике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совпадает с полным обходом сети, но в 36 раз быстрее: 3,3 мс против 116,6 мс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позволяет перебрать отказы всех 97 тыс. линий за минуты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критичности объектов и оперативности анализа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задачи 5,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8" name="o12_1t"/>
          <p:cNvSpPr txBox="1"/>
          <p:nvPr/>
        </p:nvSpPr>
        <p:spPr>
          <a:xfrm>
            <a:off x="457200" y="868680"/>
            <a:ext cx="11247120" cy="1600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 критичности элемента j: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j = Σ l e по всем обесточенным при отказе j участкам (км); дополнительно – число участков N уч,j и опор N оп,j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объекты – элементы с наибольшим W j (ранжирование)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457200" y="251460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0" name="o12_2t"/>
          <p:cNvSpPr txBox="1"/>
          <p:nvPr/>
        </p:nvSpPr>
        <p:spPr>
          <a:xfrm>
            <a:off x="457200" y="2606040"/>
            <a:ext cx="112471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анализа: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Вручную: T руч = t₀ + t уч·(N уч + N откл) + t отв·N отв  (t₀ = 60 с, t уч = 8 с, t отв = 15 с – экспертная оценка)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Автоматизированно: T авт = t расч + t отобр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457200" y="4114800"/>
            <a:ext cx="11247120" cy="914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12" name="o12_3t"/>
          <p:cNvSpPr txBox="1"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оперативности: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N-1 = Σ T ан,j – время анализа отказов всех m элементов</a:t>
            </a:r>
            <a:endParaRPr lang="en-US" sz="21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оп = Σ T руч / Σ T авт;   P св = доля отказов, проанализированных за T доп</a:t>
            </a:r>
            <a:endParaRPr lang="en-US" sz="21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Методика поиска критических объектов сети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2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423160" y="1280160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17320" y="91440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423160" y="2037806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562318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Подготовка исходных данных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423160" y="2795451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319963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Построение топологической модели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423160" y="3754265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3816" y="3077609"/>
            <a:ext cx="3218688" cy="6766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Модель корректна?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039112" y="3735977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423160" y="4511911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4036423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Перебор отказов элементов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423160" y="5269557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4794069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Анализ последствий отказа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39496" y="4794069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06824" y="4794069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23160" y="6027202"/>
            <a:ext cx="914" cy="28215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1480" y="5551714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Ранжирование и вывод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17320" y="630936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032504" y="3415937"/>
            <a:ext cx="521208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 flipV="1">
            <a:off x="4553712" y="2557707"/>
            <a:ext cx="914" cy="85823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flipH="1">
            <a:off x="4434840" y="2557707"/>
            <a:ext cx="11887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5"/>
          <p:cNvSpPr txBox="1"/>
          <p:nvPr/>
        </p:nvSpPr>
        <p:spPr>
          <a:xfrm>
            <a:off x="4050792" y="3196481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846320" y="914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Пояснения:</a:t>
            </a:r>
            <a:endParaRPr lang="en-US" sz="1800" dirty="0"/>
          </a:p>
        </p:txBody>
      </p:sp>
      <p:sp>
        <p:nvSpPr>
          <p:cNvPr id="31" name="Text 27"/>
          <p:cNvSpPr txBox="1"/>
          <p:nvPr/>
        </p:nvSpPr>
        <p:spPr>
          <a:xfrm>
            <a:off x="4846320" y="1371600"/>
            <a:ext cx="68580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1–3 выполняются один раз: топологическая модель строится автоматически по 10 правилам (≈ 8 мин)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4: отказ одного элемента (оперативный режим) или всех элементов по очереди (анализ N-1)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5: инкрементальный расчёт обесточенных участков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6: элементы упорядочиваются по показателю критичности, результат выводится на карту и в отчёт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поиска критических объектов (анализ N-1)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задачи 6,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423160" y="128016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17320" y="91440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423160" y="186944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39395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топологической модели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423160" y="245872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198323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1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23160" y="304800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257251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элемента j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423160" y="363728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1617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analyze(): обесточенные участки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9496" y="316179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06824" y="316179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23160" y="4226560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375107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W j, N уч,j, N оп,j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423160" y="5017008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13816" y="4340352"/>
            <a:ext cx="3218688" cy="6766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&lt; m?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2039112" y="49987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423160" y="5606288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11480" y="513080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Ранжирование по W j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423160" y="6195568"/>
            <a:ext cx="914" cy="11379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11480" y="5720080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перечня критических объектов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417320" y="6309360"/>
            <a:ext cx="20116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032504" y="4678680"/>
            <a:ext cx="521208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V="1">
            <a:off x="4553712" y="2810256"/>
            <a:ext cx="914" cy="186842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H="1">
            <a:off x="4434840" y="2810256"/>
            <a:ext cx="118872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29"/>
          <p:cNvSpPr txBox="1"/>
          <p:nvPr/>
        </p:nvSpPr>
        <p:spPr>
          <a:xfrm>
            <a:off x="4050792" y="4459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4846320" y="914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Пояснения: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4846320" y="1371600"/>
            <a:ext cx="685800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Перебираются все подстанции (m = 1 595) и все линии, связанные с источниками (m = 97 126)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отказа считаются протяжённость обесточенной сети, число участков и опор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Элементы упорядочиваются по критичности; результат – перечень и карта критических объектов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Время: подстанции – 9,3 с, линии – 4,5 мин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алгоритма работы программы (ГОСТ 19.701–90)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828800" y="1261872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1560" y="896112"/>
            <a:ext cx="15544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828800" y="1835912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1360424"/>
            <a:ext cx="31089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Ввод: PROFILE, BBOX, путь к данным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828800" y="261112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" y="1934464"/>
            <a:ext cx="2487168" cy="6766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GeoPackage существует?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444752" y="259283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0" y="318516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70967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графа из GeoPackage (SQLite)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828800" y="375920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3283712"/>
            <a:ext cx="31089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слоёв и панели управления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828800" y="433324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3857752"/>
            <a:ext cx="31089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Ввод: выбор элементов или режим N-1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828800" y="490728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" y="44317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analyze(): расчёт последствий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02336" y="443179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55264" y="4431792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828800" y="5481320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5005832"/>
            <a:ext cx="31089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карта, сводка, перечень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828800" y="6256528"/>
            <a:ext cx="914" cy="98552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5216" y="5579872"/>
            <a:ext cx="2487168" cy="6766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Продолжить анализ?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444752" y="6238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1051560" y="6355080"/>
            <a:ext cx="1554480" cy="365760"/>
          </a:xfrm>
          <a:prstGeom prst="roundRect">
            <a:avLst>
              <a:gd name="adj" fmla="val 125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657600" y="1929892"/>
            <a:ext cx="1600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build_network(): построение модели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3769614" y="1929892"/>
            <a:ext cx="914" cy="685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145786" y="1929892"/>
            <a:ext cx="914" cy="685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072384" y="2272792"/>
            <a:ext cx="585216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099816" y="20441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 flipV="1">
            <a:off x="4457700" y="2599944"/>
            <a:ext cx="914" cy="1574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H="1">
            <a:off x="1828800" y="2599944"/>
            <a:ext cx="262890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3072384" y="5918200"/>
            <a:ext cx="448056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 flipV="1">
            <a:off x="3520440" y="4095496"/>
            <a:ext cx="914" cy="182270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 flipH="1">
            <a:off x="3383280" y="4095496"/>
            <a:ext cx="137160" cy="91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7"/>
          <p:cNvSpPr txBox="1"/>
          <p:nvPr/>
        </p:nvSpPr>
        <p:spPr>
          <a:xfrm>
            <a:off x="3090672" y="56987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5577840" y="914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Пояснения:</a:t>
            </a:r>
            <a:endParaRPr lang="en-US" sz="1800" dirty="0"/>
          </a:p>
        </p:txBody>
      </p:sp>
      <p:sp>
        <p:nvSpPr>
          <p:cNvPr id="43" name="Text 39"/>
          <p:cNvSpPr txBox="1"/>
          <p:nvPr/>
        </p:nvSpPr>
        <p:spPr>
          <a:xfrm>
            <a:off x="5577840" y="1371600"/>
            <a:ext cx="6126480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строится подпрограммой build_network() только при первом запуске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загружается напрямую через SQLite за 3–10 с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выбирает элементы на карте или запускает анализ N-1</a:t>
            </a:r>
            <a:endParaRPr lang="en-US" sz="1800" dirty="0"/>
          </a:p>
          <a:p>
            <a:pPr marL="228600" indent="-228600">
              <a:spcBef>
                <a:spcPts val="1000"/>
              </a:spcBef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– перекраска слоёв, сводка и перечень критических объектов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Математическое описание программы: композиция операторов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84124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R ∘ N ∘ A ∘ T   –   программа применяет операторы последовательно: T → A → N → 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1371600"/>
            <a:ext cx="2606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– построение модели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090672" y="1623060"/>
            <a:ext cx="219456" cy="914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57200" y="2011680"/>
            <a:ext cx="26060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: (D, Θ) → 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– слои NVE (линии, подстанции, опоры), Θ – параметры 10 правил топологии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5303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раз, ≈ 8 мин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1371600"/>
            <a:ext cx="2606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– анализ отказа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971032" y="1623060"/>
            <a:ext cx="219456" cy="914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337560" y="2011680"/>
            <a:ext cx="26060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33756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: (M, L</a:t>
            </a:r>
            <a:pPr algn="ctr"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j) → σ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3337560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σ всех участков при отказе элемента j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3337560" y="5303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 мс на один отказ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217920" y="1371600"/>
            <a:ext cx="2606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– перебор отказов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851392" y="1623060"/>
            <a:ext cx="219456" cy="914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6217920" y="2011680"/>
            <a:ext cx="26060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1792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W(A(M, L</a:t>
            </a:r>
            <a:pPr algn="ctr"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j))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217920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каждого элемента j = 1, …, m по очереди (N-1)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6217920" y="5303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9,3 с – подстанции, 4,5 мин – линии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9098280" y="1371600"/>
            <a:ext cx="2606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– ранжирование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9098280" y="2011680"/>
            <a:ext cx="26060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8C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098280" y="4114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: (W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…, 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→ π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9098280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по убыванию W</a:t>
            </a:r>
            <a:pPr algn="ctr" indent="0" marL="0">
              <a:buNone/>
            </a:pPr>
            <a:r>
              <a:rPr lang="en-US" sz="1250" baseline="-40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вывод на карту и в CSV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9098280" y="5303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O(m·log m), доли секунды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94360" y="2423160"/>
            <a:ext cx="493776" cy="466344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8720" y="2980944"/>
            <a:ext cx="502920" cy="493776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594360" y="2990088"/>
            <a:ext cx="512064" cy="393192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41832" y="2724912"/>
            <a:ext cx="402336" cy="402336"/>
          </a:xfrm>
          <a:prstGeom prst="ellipse">
            <a:avLst/>
          </a:prstGeom>
          <a:ln w="15875">
            <a:solidFill>
              <a:srgbClr val="D62828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128016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1755648" y="2926080"/>
            <a:ext cx="274320" cy="914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2011680" y="2423160"/>
            <a:ext cx="411480" cy="50292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2423160" y="2926080"/>
            <a:ext cx="411480" cy="54864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 flipV="1">
            <a:off x="2011680" y="2926080"/>
            <a:ext cx="411480" cy="45720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331720" y="2834640"/>
            <a:ext cx="182880" cy="1828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57200" y="36118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концы ≤ ε → один узел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3456432" y="2513686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838651" y="2513686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220870" y="2513686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03090" y="2513686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85309" y="2513686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367528" y="2513686"/>
            <a:ext cx="399593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220870" y="2513686"/>
            <a:ext cx="914" cy="382219"/>
          </a:xfrm>
          <a:prstGeom prst="line">
            <a:avLst/>
          </a:prstGeom>
          <a:noFill/>
          <a:ln w="25400">
            <a:solidFill>
              <a:srgbClr val="D62828"/>
            </a:solidFill>
            <a:prstDash val="dash"/>
          </a:ln>
        </p:spPr>
      </p:sp>
      <p:sp>
        <p:nvSpPr>
          <p:cNvPr id="50" name="Shape 46"/>
          <p:cNvSpPr/>
          <p:nvPr/>
        </p:nvSpPr>
        <p:spPr>
          <a:xfrm flipV="1">
            <a:off x="3890772" y="2895905"/>
            <a:ext cx="330098" cy="364846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220870" y="2895905"/>
            <a:ext cx="330098" cy="364846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4550969" y="3260750"/>
            <a:ext cx="382219" cy="260604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890772" y="3260750"/>
            <a:ext cx="914" cy="295351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 flipV="1">
            <a:off x="4985309" y="2148840"/>
            <a:ext cx="914" cy="364846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 flipV="1">
            <a:off x="4603090" y="2148840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603090" y="2148840"/>
            <a:ext cx="914" cy="364846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985309" y="2148840"/>
            <a:ext cx="382219" cy="914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378708" y="2435962"/>
            <a:ext cx="155448" cy="1554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И1</a:t>
            </a:r>
            <a:endParaRPr lang="en-US" sz="100" dirty="0"/>
          </a:p>
        </p:txBody>
      </p:sp>
      <p:sp>
        <p:nvSpPr>
          <p:cNvPr id="59" name="Text 55"/>
          <p:cNvSpPr/>
          <p:nvPr/>
        </p:nvSpPr>
        <p:spPr>
          <a:xfrm>
            <a:off x="3760927" y="24359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" dirty="0"/>
          </a:p>
        </p:txBody>
      </p:sp>
      <p:sp>
        <p:nvSpPr>
          <p:cNvPr id="60" name="Text 56"/>
          <p:cNvSpPr/>
          <p:nvPr/>
        </p:nvSpPr>
        <p:spPr>
          <a:xfrm>
            <a:off x="4143146" y="24359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" dirty="0"/>
          </a:p>
        </p:txBody>
      </p:sp>
      <p:sp>
        <p:nvSpPr>
          <p:cNvPr id="61" name="Text 57"/>
          <p:cNvSpPr/>
          <p:nvPr/>
        </p:nvSpPr>
        <p:spPr>
          <a:xfrm>
            <a:off x="4525366" y="24359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" dirty="0"/>
          </a:p>
        </p:txBody>
      </p:sp>
      <p:sp>
        <p:nvSpPr>
          <p:cNvPr id="62" name="Text 58"/>
          <p:cNvSpPr/>
          <p:nvPr/>
        </p:nvSpPr>
        <p:spPr>
          <a:xfrm>
            <a:off x="4907585" y="24359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" dirty="0"/>
          </a:p>
        </p:txBody>
      </p:sp>
      <p:sp>
        <p:nvSpPr>
          <p:cNvPr id="63" name="Text 59"/>
          <p:cNvSpPr/>
          <p:nvPr/>
        </p:nvSpPr>
        <p:spPr>
          <a:xfrm>
            <a:off x="5289804" y="243596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0" dirty="0"/>
          </a:p>
        </p:txBody>
      </p:sp>
      <p:sp>
        <p:nvSpPr>
          <p:cNvPr id="64" name="Text 60"/>
          <p:cNvSpPr/>
          <p:nvPr/>
        </p:nvSpPr>
        <p:spPr>
          <a:xfrm>
            <a:off x="5689397" y="2435962"/>
            <a:ext cx="155448" cy="1554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И2</a:t>
            </a:r>
            <a:endParaRPr lang="en-US" sz="100" dirty="0"/>
          </a:p>
        </p:txBody>
      </p:sp>
      <p:sp>
        <p:nvSpPr>
          <p:cNvPr id="65" name="Text 61"/>
          <p:cNvSpPr/>
          <p:nvPr/>
        </p:nvSpPr>
        <p:spPr>
          <a:xfrm>
            <a:off x="4143146" y="2818181"/>
            <a:ext cx="155448" cy="155448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" dirty="0"/>
          </a:p>
        </p:txBody>
      </p:sp>
      <p:sp>
        <p:nvSpPr>
          <p:cNvPr id="66" name="Text 62"/>
          <p:cNvSpPr/>
          <p:nvPr/>
        </p:nvSpPr>
        <p:spPr>
          <a:xfrm>
            <a:off x="3813048" y="3183026"/>
            <a:ext cx="155448" cy="155448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0" dirty="0"/>
          </a:p>
        </p:txBody>
      </p:sp>
      <p:sp>
        <p:nvSpPr>
          <p:cNvPr id="67" name="Text 63"/>
          <p:cNvSpPr/>
          <p:nvPr/>
        </p:nvSpPr>
        <p:spPr>
          <a:xfrm>
            <a:off x="4473245" y="3183026"/>
            <a:ext cx="155448" cy="155448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" dirty="0"/>
          </a:p>
        </p:txBody>
      </p:sp>
      <p:sp>
        <p:nvSpPr>
          <p:cNvPr id="68" name="Text 64"/>
          <p:cNvSpPr/>
          <p:nvPr/>
        </p:nvSpPr>
        <p:spPr>
          <a:xfrm>
            <a:off x="4855464" y="3443630"/>
            <a:ext cx="155448" cy="155448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0" dirty="0"/>
          </a:p>
        </p:txBody>
      </p:sp>
      <p:sp>
        <p:nvSpPr>
          <p:cNvPr id="69" name="Text 65"/>
          <p:cNvSpPr/>
          <p:nvPr/>
        </p:nvSpPr>
        <p:spPr>
          <a:xfrm>
            <a:off x="4907585" y="207111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00" dirty="0"/>
          </a:p>
        </p:txBody>
      </p:sp>
      <p:sp>
        <p:nvSpPr>
          <p:cNvPr id="70" name="Text 66"/>
          <p:cNvSpPr/>
          <p:nvPr/>
        </p:nvSpPr>
        <p:spPr>
          <a:xfrm>
            <a:off x="4525366" y="207111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00" dirty="0"/>
          </a:p>
        </p:txBody>
      </p:sp>
      <p:sp>
        <p:nvSpPr>
          <p:cNvPr id="71" name="Text 67"/>
          <p:cNvSpPr/>
          <p:nvPr/>
        </p:nvSpPr>
        <p:spPr>
          <a:xfrm>
            <a:off x="5289804" y="207111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" dirty="0"/>
          </a:p>
        </p:txBody>
      </p:sp>
      <p:sp>
        <p:nvSpPr>
          <p:cNvPr id="72" name="Text 68"/>
          <p:cNvSpPr/>
          <p:nvPr/>
        </p:nvSpPr>
        <p:spPr>
          <a:xfrm>
            <a:off x="3813048" y="3478378"/>
            <a:ext cx="155448" cy="155448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E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" dirty="0"/>
          </a:p>
        </p:txBody>
      </p:sp>
      <p:sp>
        <p:nvSpPr>
          <p:cNvPr id="73" name="Text 69"/>
          <p:cNvSpPr txBox="1"/>
          <p:nvPr/>
        </p:nvSpPr>
        <p:spPr>
          <a:xfrm>
            <a:off x="3337560" y="36118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B–F → обесточено 5 узлов</a:t>
            </a:r>
            <a:endParaRPr lang="en-US" sz="1200" dirty="0"/>
          </a:p>
        </p:txBody>
      </p:sp>
      <p:sp>
        <p:nvSpPr>
          <p:cNvPr id="74" name="Text 70"/>
          <p:cNvSpPr txBox="1"/>
          <p:nvPr/>
        </p:nvSpPr>
        <p:spPr>
          <a:xfrm>
            <a:off x="6537960" y="21762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1</a:t>
            </a:r>
            <a:endParaRPr lang="en-US" sz="1300" dirty="0"/>
          </a:p>
        </p:txBody>
      </p:sp>
      <p:sp>
        <p:nvSpPr>
          <p:cNvPr id="75" name="Shape 71"/>
          <p:cNvSpPr/>
          <p:nvPr/>
        </p:nvSpPr>
        <p:spPr>
          <a:xfrm>
            <a:off x="7251192" y="2322576"/>
            <a:ext cx="320040" cy="914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76" name="Text 72"/>
          <p:cNvSpPr txBox="1"/>
          <p:nvPr/>
        </p:nvSpPr>
        <p:spPr>
          <a:xfrm>
            <a:off x="7635240" y="21762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11,5</a:t>
            </a:r>
            <a:endParaRPr lang="en-US" sz="1300" dirty="0"/>
          </a:p>
        </p:txBody>
      </p:sp>
      <p:sp>
        <p:nvSpPr>
          <p:cNvPr id="77" name="Text 73"/>
          <p:cNvSpPr txBox="1"/>
          <p:nvPr/>
        </p:nvSpPr>
        <p:spPr>
          <a:xfrm>
            <a:off x="6537960" y="25054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2</a:t>
            </a:r>
            <a:endParaRPr lang="en-US" sz="1300" dirty="0"/>
          </a:p>
        </p:txBody>
      </p:sp>
      <p:sp>
        <p:nvSpPr>
          <p:cNvPr id="78" name="Shape 74"/>
          <p:cNvSpPr/>
          <p:nvPr/>
        </p:nvSpPr>
        <p:spPr>
          <a:xfrm>
            <a:off x="7251192" y="2651760"/>
            <a:ext cx="320040" cy="914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79" name="Text 75"/>
          <p:cNvSpPr txBox="1"/>
          <p:nvPr/>
        </p:nvSpPr>
        <p:spPr>
          <a:xfrm>
            <a:off x="7635240" y="25054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1300" dirty="0"/>
          </a:p>
        </p:txBody>
      </p:sp>
      <p:sp>
        <p:nvSpPr>
          <p:cNvPr id="80" name="Text 76"/>
          <p:cNvSpPr txBox="1"/>
          <p:nvPr/>
        </p:nvSpPr>
        <p:spPr>
          <a:xfrm>
            <a:off x="6537960" y="2834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00" dirty="0"/>
          </a:p>
        </p:txBody>
      </p:sp>
      <p:sp>
        <p:nvSpPr>
          <p:cNvPr id="81" name="Text 77"/>
          <p:cNvSpPr txBox="1"/>
          <p:nvPr/>
        </p:nvSpPr>
        <p:spPr>
          <a:xfrm>
            <a:off x="7635240" y="2834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00" dirty="0"/>
          </a:p>
        </p:txBody>
      </p:sp>
      <p:sp>
        <p:nvSpPr>
          <p:cNvPr id="82" name="Text 78"/>
          <p:cNvSpPr txBox="1"/>
          <p:nvPr/>
        </p:nvSpPr>
        <p:spPr>
          <a:xfrm>
            <a:off x="6537960" y="3163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m</a:t>
            </a:r>
            <a:endParaRPr lang="en-US" sz="1300" dirty="0"/>
          </a:p>
        </p:txBody>
      </p:sp>
      <p:sp>
        <p:nvSpPr>
          <p:cNvPr id="83" name="Shape 79"/>
          <p:cNvSpPr/>
          <p:nvPr/>
        </p:nvSpPr>
        <p:spPr>
          <a:xfrm>
            <a:off x="7251192" y="3310128"/>
            <a:ext cx="320040" cy="914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84" name="Text 80"/>
          <p:cNvSpPr txBox="1"/>
          <p:nvPr/>
        </p:nvSpPr>
        <p:spPr>
          <a:xfrm>
            <a:off x="7635240" y="31638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endParaRPr lang="en-US" sz="1300" dirty="0"/>
          </a:p>
        </p:txBody>
      </p:sp>
      <p:sp>
        <p:nvSpPr>
          <p:cNvPr id="85" name="Shape 81"/>
          <p:cNvSpPr/>
          <p:nvPr/>
        </p:nvSpPr>
        <p:spPr>
          <a:xfrm>
            <a:off x="6373368" y="2322576"/>
            <a:ext cx="914" cy="987552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373368" y="2322576"/>
            <a:ext cx="128016" cy="914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  <a:tailEnd type="triangle"/>
          </a:ln>
        </p:spPr>
      </p:sp>
      <p:sp>
        <p:nvSpPr>
          <p:cNvPr id="87" name="Shape 83"/>
          <p:cNvSpPr/>
          <p:nvPr/>
        </p:nvSpPr>
        <p:spPr>
          <a:xfrm>
            <a:off x="6373368" y="3310128"/>
            <a:ext cx="128016" cy="914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6217920" y="36118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= 1 595 + 97 126 элементов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9418320" y="2194560"/>
            <a:ext cx="1920240" cy="1554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9418320" y="2414016"/>
            <a:ext cx="1574597" cy="1554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9418320" y="2633472"/>
            <a:ext cx="1056132" cy="1554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9418320" y="2852928"/>
            <a:ext cx="729691" cy="155448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9418320" y="3072384"/>
            <a:ext cx="480060" cy="155448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9418320" y="3291840"/>
            <a:ext cx="230429" cy="155448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320833" y="2121408"/>
            <a:ext cx="914" cy="1399032"/>
          </a:xfrm>
          <a:prstGeom prst="line">
            <a:avLst/>
          </a:prstGeom>
          <a:noFill/>
          <a:ln w="15875">
            <a:solidFill>
              <a:srgbClr val="D62828"/>
            </a:solidFill>
            <a:prstDash val="dash"/>
          </a:ln>
        </p:spPr>
      </p:sp>
      <p:sp>
        <p:nvSpPr>
          <p:cNvPr id="96" name="Text 92"/>
          <p:cNvSpPr txBox="1"/>
          <p:nvPr/>
        </p:nvSpPr>
        <p:spPr>
          <a:xfrm>
            <a:off x="10366553" y="3218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W*</a:t>
            </a:r>
            <a:endParaRPr lang="en-US" sz="1200" dirty="0"/>
          </a:p>
        </p:txBody>
      </p:sp>
      <p:sp>
        <p:nvSpPr>
          <p:cNvPr id="97" name="Text 93"/>
          <p:cNvSpPr txBox="1"/>
          <p:nvPr/>
        </p:nvSpPr>
        <p:spPr>
          <a:xfrm>
            <a:off x="9098280" y="36118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π(1), π(2), … ; K – выше W*</a:t>
            </a:r>
            <a:endParaRPr lang="en-US" sz="1200" dirty="0"/>
          </a:p>
        </p:txBody>
      </p:sp>
      <p:sp>
        <p:nvSpPr>
          <p:cNvPr id="98" name="Text 94"/>
          <p:cNvSpPr txBox="1"/>
          <p:nvPr/>
        </p:nvSpPr>
        <p:spPr>
          <a:xfrm>
            <a:off x="457200" y="5852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Вход: FileGDB (NVE).   Модель M = (V, E, S, l, n) хранится в GeoPackage.   Выход: слои QGIS с σ(e), таблица W</a:t>
            </a:r>
            <a:pPr algn="ctr"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</a:t>
            </a:r>
            <a:pPr algn="ctr"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уч,j</a:t>
            </a:r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</a:t>
            </a:r>
            <a:pPr algn="ctr" indent="0" marL="0">
              <a:buNone/>
            </a:pPr>
            <a:r>
              <a:rPr lang="en-US" sz="13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оп,j</a:t>
            </a:r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(CSV).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Математическое описание программы: анализ отказа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868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линии B–F: просматриваются только фрагменты Φ</a:t>
            </a:r>
            <a:pPr indent="0" marL="0">
              <a:buNone/>
            </a:pPr>
            <a:r>
              <a:rPr lang="en-US" sz="1500" b="1" baseline="-400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Φ</a:t>
            </a:r>
            <a:pPr indent="0" marL="0">
              <a:buNone/>
            </a:pPr>
            <a:r>
              <a:rPr lang="en-US" sz="1500" b="1" baseline="-4000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00630"/>
            <a:ext cx="92537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565453" y="2300630"/>
            <a:ext cx="92537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90826" y="2300630"/>
            <a:ext cx="925373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16198" y="2300630"/>
            <a:ext cx="925373" cy="914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41571" y="2300630"/>
            <a:ext cx="925373" cy="914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66944" y="2300630"/>
            <a:ext cx="967435" cy="914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90826" y="2300630"/>
            <a:ext cx="914" cy="925373"/>
          </a:xfrm>
          <a:prstGeom prst="line">
            <a:avLst/>
          </a:prstGeom>
          <a:noFill/>
          <a:ln w="44450">
            <a:solidFill>
              <a:srgbClr val="D62828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 flipV="1">
            <a:off x="1691640" y="3226003"/>
            <a:ext cx="799186" cy="88331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90826" y="3226003"/>
            <a:ext cx="799186" cy="88331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90011" y="4109314"/>
            <a:ext cx="925373" cy="63093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691640" y="4109314"/>
            <a:ext cx="914" cy="71506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 flipV="1">
            <a:off x="4341571" y="1417320"/>
            <a:ext cx="914" cy="883310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 flipV="1">
            <a:off x="3416198" y="1417320"/>
            <a:ext cx="925373" cy="914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16198" y="1417320"/>
            <a:ext cx="914" cy="883310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41571" y="1417320"/>
            <a:ext cx="925373" cy="914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" y="2090318"/>
            <a:ext cx="420624" cy="42062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355141" y="2090318"/>
            <a:ext cx="420624" cy="420624"/>
          </a:xfrm>
          <a:prstGeom prst="ellipse">
            <a:avLst/>
          </a:prstGeom>
          <a:solidFill>
            <a:srgbClr val="DCEFE3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2280514" y="2090318"/>
            <a:ext cx="420624" cy="420624"/>
          </a:xfrm>
          <a:prstGeom prst="ellipse">
            <a:avLst/>
          </a:prstGeom>
          <a:solidFill>
            <a:srgbClr val="DCEFE3"/>
          </a:solidFill>
          <a:ln w="38100">
            <a:solidFill>
              <a:srgbClr val="1A237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205886" y="2090318"/>
            <a:ext cx="420624" cy="420624"/>
          </a:xfrm>
          <a:prstGeom prst="ellipse">
            <a:avLst/>
          </a:prstGeom>
          <a:solidFill>
            <a:srgbClr val="DCEFE3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131259" y="209031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56632" y="209031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024067" y="2090318"/>
            <a:ext cx="42062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И2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2280514" y="3015691"/>
            <a:ext cx="420624" cy="420624"/>
          </a:xfrm>
          <a:prstGeom prst="ellipse">
            <a:avLst/>
          </a:prstGeom>
          <a:solidFill>
            <a:srgbClr val="FFE0B2"/>
          </a:solidFill>
          <a:ln w="38100">
            <a:solidFill>
              <a:srgbClr val="1A237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481328" y="3899002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079699" y="3899002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005072" y="4529938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131259" y="12070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3205886" y="12070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056632" y="12070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DBDB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1481328" y="4614062"/>
            <a:ext cx="420624" cy="420624"/>
          </a:xfrm>
          <a:prstGeom prst="ellipse">
            <a:avLst/>
          </a:prstGeom>
          <a:solidFill>
            <a:srgbClr val="FFE0B2"/>
          </a:solidFill>
          <a:ln w="12700">
            <a:solidFill>
              <a:srgbClr val="3333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1484986" y="252923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∈ Z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2765146" y="3088843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∈ Z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1016813" y="161483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l" indent="0" marL="0">
              <a:buNone/>
            </a:pPr>
            <a:r>
              <a:rPr lang="en-US" sz="140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источник найден</a:t>
            </a:r>
            <a:endParaRPr lang="en-US" sz="1400" dirty="0"/>
          </a:p>
        </p:txBody>
      </p:sp>
      <p:sp>
        <p:nvSpPr>
          <p:cNvPr id="42" name="Text 38"/>
          <p:cNvSpPr txBox="1"/>
          <p:nvPr/>
        </p:nvSpPr>
        <p:spPr>
          <a:xfrm>
            <a:off x="4535424" y="423733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l" indent="0" marL="0">
              <a:buNone/>
            </a:pPr>
            <a:r>
              <a:rPr lang="en-US" sz="1400" b="1" baseline="-40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источника нет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4535424" y="452993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обесточен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901184" y="262067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просматриваются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7269480" y="914400"/>
            <a:ext cx="914" cy="5349240"/>
          </a:xfrm>
          <a:prstGeom prst="line">
            <a:avLst/>
          </a:prstGeom>
          <a:noFill/>
          <a:ln w="9525">
            <a:solidFill>
              <a:srgbClr val="C8C8C8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452360" y="8961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∪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e∈E_off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{u, v} ∪ ∪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w∈V_off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Adj(w)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7452360" y="1280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стартовые узлы – концы отказавших линий и соседи отказавших узлов (обведены)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7452360" y="17922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обесточен  ⇔  Φ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∩ S = ∅</a:t>
            </a:r>
            <a:endParaRPr lang="en-US" sz="1600" dirty="0"/>
          </a:p>
        </p:txBody>
      </p:sp>
      <p:sp>
        <p:nvSpPr>
          <p:cNvPr id="49" name="Text 45"/>
          <p:cNvSpPr txBox="1"/>
          <p:nvPr/>
        </p:nvSpPr>
        <p:spPr>
          <a:xfrm>
            <a:off x="7452360" y="217627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в ширину из z останавливается, как только найден источник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7452360" y="26151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O(|Φ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+ |E(Φ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)|)  ≪  O(|V| + |E|)</a:t>
            </a:r>
            <a:endParaRPr lang="en-US" sz="1600" dirty="0"/>
          </a:p>
        </p:txBody>
      </p:sp>
      <p:sp>
        <p:nvSpPr>
          <p:cNvPr id="51" name="Text 47"/>
          <p:cNvSpPr txBox="1"/>
          <p:nvPr/>
        </p:nvSpPr>
        <p:spPr>
          <a:xfrm>
            <a:off x="7452360" y="2999232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зависит от размера фрагментов, а не всей сети:</a:t>
            </a:r>
            <a:endParaRPr lang="en-US" sz="1300" dirty="0"/>
          </a:p>
        </p:txBody>
      </p:sp>
      <p:sp>
        <p:nvSpPr>
          <p:cNvPr id="52" name="Text 48"/>
          <p:cNvSpPr txBox="1"/>
          <p:nvPr/>
        </p:nvSpPr>
        <p:spPr>
          <a:xfrm>
            <a:off x="7452360" y="3300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инкрементальный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8933688" y="3346704"/>
            <a:ext cx="59522" cy="1828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048074" y="3300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 мс</a:t>
            </a:r>
            <a:endParaRPr lang="en-US" sz="1200" dirty="0"/>
          </a:p>
        </p:txBody>
      </p:sp>
      <p:sp>
        <p:nvSpPr>
          <p:cNvPr id="55" name="Text 51"/>
          <p:cNvSpPr txBox="1"/>
          <p:nvPr/>
        </p:nvSpPr>
        <p:spPr>
          <a:xfrm>
            <a:off x="7452360" y="3630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обход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8933688" y="3675888"/>
            <a:ext cx="2103120" cy="182880"/>
          </a:xfrm>
          <a:prstGeom prst="rect">
            <a:avLst/>
          </a:prstGeom>
          <a:solidFill>
            <a:srgbClr val="AEB6D9"/>
          </a:solidFill>
          <a:ln w="12700">
            <a:solidFill>
              <a:srgbClr val="AEB6D9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1091672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116,6 мс</a:t>
            </a:r>
            <a:endParaRPr lang="en-US" sz="1200" dirty="0"/>
          </a:p>
        </p:txBody>
      </p:sp>
      <p:sp>
        <p:nvSpPr>
          <p:cNvPr id="58" name="Text 54"/>
          <p:cNvSpPr txBox="1"/>
          <p:nvPr/>
        </p:nvSpPr>
        <p:spPr>
          <a:xfrm>
            <a:off x="7452360" y="40782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j=1..m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indent="0" marL="0">
              <a:buNone/>
            </a:pPr>
            <a:r>
              <a:rPr lang="en-US" sz="1600" baseline="-40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ан,j</a:t>
            </a:r>
            <a:endParaRPr lang="en-US" sz="1600" dirty="0"/>
          </a:p>
        </p:txBody>
      </p:sp>
      <p:sp>
        <p:nvSpPr>
          <p:cNvPr id="59" name="Text 55"/>
          <p:cNvSpPr txBox="1"/>
          <p:nvPr/>
        </p:nvSpPr>
        <p:spPr>
          <a:xfrm>
            <a:off x="7452360" y="4462272"/>
            <a:ext cx="4297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подстанции (m = 1 595) – 9,3 с; линии (m = 97 126) – 4,5 мин</a:t>
            </a:r>
            <a:endParaRPr lang="en-US" sz="1300" dirty="0"/>
          </a:p>
        </p:txBody>
      </p:sp>
      <p:sp>
        <p:nvSpPr>
          <p:cNvPr id="60" name="Text 56"/>
          <p:cNvSpPr txBox="1"/>
          <p:nvPr/>
        </p:nvSpPr>
        <p:spPr>
          <a:xfrm>
            <a:off x="7452360" y="4855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O(|V| + |E|)</a:t>
            </a:r>
            <a:endParaRPr lang="en-US" sz="1600" dirty="0"/>
          </a:p>
        </p:txBody>
      </p:sp>
      <p:sp>
        <p:nvSpPr>
          <p:cNvPr id="61" name="Text 57"/>
          <p:cNvSpPr txBox="1"/>
          <p:nvPr/>
        </p:nvSpPr>
        <p:spPr>
          <a:xfrm>
            <a:off x="7452360" y="5239512"/>
            <a:ext cx="4297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 смежности: 159 543 узла, 154 722 ребра (матрица смежности заняла бы ≈ 25 ГБ)</a:t>
            </a:r>
            <a:endParaRPr lang="en-US" sz="1300" dirty="0"/>
          </a:p>
        </p:txBody>
      </p:sp>
      <p:sp>
        <p:nvSpPr>
          <p:cNvPr id="62" name="Shape 58"/>
          <p:cNvSpPr/>
          <p:nvPr/>
        </p:nvSpPr>
        <p:spPr>
          <a:xfrm>
            <a:off x="502920" y="6144768"/>
            <a:ext cx="365760" cy="914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932688" y="6007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источником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2286000" y="6144768"/>
            <a:ext cx="365760" cy="914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2715768" y="6007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обесточен</a:t>
            </a:r>
            <a:endParaRPr lang="en-US" sz="1200" dirty="0"/>
          </a:p>
        </p:txBody>
      </p:sp>
      <p:sp>
        <p:nvSpPr>
          <p:cNvPr id="66" name="Shape 62"/>
          <p:cNvSpPr/>
          <p:nvPr/>
        </p:nvSpPr>
        <p:spPr>
          <a:xfrm>
            <a:off x="3794760" y="6144768"/>
            <a:ext cx="365760" cy="914"/>
          </a:xfrm>
          <a:prstGeom prst="line">
            <a:avLst/>
          </a:prstGeom>
          <a:noFill/>
          <a:ln w="38100">
            <a:solidFill>
              <a:srgbClr val="BDBDBD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4224528" y="6007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просматривается</a:t>
            </a:r>
            <a:endParaRPr lang="en-US" sz="1200" dirty="0"/>
          </a:p>
        </p:txBody>
      </p:sp>
      <p:sp>
        <p:nvSpPr>
          <p:cNvPr id="68" name="Shape 64"/>
          <p:cNvSpPr/>
          <p:nvPr/>
        </p:nvSpPr>
        <p:spPr>
          <a:xfrm>
            <a:off x="5852160" y="6144768"/>
            <a:ext cx="365760" cy="914"/>
          </a:xfrm>
          <a:prstGeom prst="line">
            <a:avLst/>
          </a:prstGeom>
          <a:noFill/>
          <a:ln w="38100">
            <a:solidFill>
              <a:srgbClr val="D62828"/>
            </a:solidFill>
            <a:prstDash val="dash"/>
          </a:ln>
        </p:spPr>
      </p:sp>
      <p:sp>
        <p:nvSpPr>
          <p:cNvPr id="69" name="Text 65"/>
          <p:cNvSpPr txBox="1"/>
          <p:nvPr/>
        </p:nvSpPr>
        <p:spPr>
          <a:xfrm>
            <a:off x="6281928" y="6007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Программный комплекс: архитектура и состав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423160" y="1389888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914400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FileGDB / Shapefile (исходные данные)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423160" y="2144921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1669433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build_network(): чтение слоёв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9496" y="1669433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1669433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23160" y="2899954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242446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build_topology(): правила 1–10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9496" y="2424466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06824" y="2424466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423160" y="3654987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3179499"/>
            <a:ext cx="4023360" cy="475488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GeoPackage: рёбра, узлы, опоры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423160" y="4410021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3934533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OutageTool: граф через SQLite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2423160" y="5165054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" y="468956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177800" rIns="1778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OutageGraph.analyze()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39496" y="4689566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06824" y="4689566"/>
            <a:ext cx="914" cy="4754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423160" y="5920087"/>
            <a:ext cx="914" cy="279545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11480" y="5444599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style_layers(): условные знаки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11480" y="619963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OutageDock, PickTool: интерфейс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144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Вычислительное ядро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Правила топологии, пространственные индексы; чистый Python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GeoPackage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Модель: 154 722 ребра, 159 543 узла, 734 293 опоры; индексы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OutageTool, OutageGraph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Загрузка графа, инкрементальный расчёт, анализ N-1, отчёт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Интерфейс QGIS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Условные знаки, панель управления, выбор элементов щелчком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o18_1t"/>
          <p:cNvSpPr txBox="1"/>
          <p:nvPr/>
        </p:nvSpPr>
        <p:spPr>
          <a:xfrm>
            <a:off x="4754880" y="5029200"/>
            <a:ext cx="694944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≈ 1500 строк; запуск одной командой в консоли QGIS 3.x без установки дополнительных модулей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оператора в QGIS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6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pic>
        <p:nvPicPr>
          <p:cNvPr id="8" name="Image 2" descr="/home/claude/w/shots_v5/engerda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91997"/>
            <a:ext cx="7863840" cy="41654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5575731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подстанции ENGERDAL: обесточенная сеть выделена оранжевым</a:t>
            </a:r>
            <a:endParaRPr lang="en-US" sz="1100" dirty="0"/>
          </a:p>
        </p:txBody>
      </p:sp>
      <p:sp>
        <p:nvSpPr>
          <p:cNvPr id="10" name="o19_1t"/>
          <p:cNvSpPr txBox="1"/>
          <p:nvPr/>
        </p:nvSpPr>
        <p:spPr>
          <a:xfrm>
            <a:off x="8412480" y="868680"/>
            <a:ext cx="3291840" cy="5486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линий и станций по названию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щелчком на карте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– отказ, оранжевый – обесточено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N-1 одной командой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и экспорт CSV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Результаты: критические подстанции электросети Норвегии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pic>
        <p:nvPicPr>
          <p:cNvPr id="8" name="Image 2" descr="deck2/crit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7708"/>
            <a:ext cx="4572000" cy="545690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4320" y="6248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наиболее критичных подстанций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14400"/>
          <a:ext cx="6675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Подстанция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W, км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Участков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Опор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NORSENGA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377,6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3 834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SMØRFJORD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ENGERDAL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323,3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3 498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ÅRNES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266,7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4 028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EVJE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228,6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2 564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SØNSTERUD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2 423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BRENSHOLMEN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217,0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2 020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NYBERGSUND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211,2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2 327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RENDALEN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2 106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ÅMLI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2 378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029200" y="60350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– протяжённость линий, обесточиваемых при отказе подстанции. Отказ 1 131 из 1 595 подстанций (70,9 %) приводит к обесточению.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анализа N-1: распределение критичности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pic>
        <p:nvPicPr>
          <p:cNvPr id="8" name="Image 2" descr="deck2/crit_h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88362"/>
            <a:ext cx="6583680" cy="32411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474784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подстанций по протяжённости обесточиваемых линий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914400"/>
          <a:ext cx="4480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 анализа N-1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Подстанций проверено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1 595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 них критичных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1 131 (70,9 %)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Подстанций с W &gt; 100 км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Линий проверено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97 126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 них критичных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60 024 (61,8 %)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 анализа подстанций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 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 анализа линий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 мин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Наиболее критичный объект: подстанция NORSENGA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pic>
        <p:nvPicPr>
          <p:cNvPr id="8" name="Image 2" descr="deck2/norge_N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2980"/>
            <a:ext cx="6035040" cy="5029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60304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Последствия отказа подстанции NORSENGA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914400"/>
          <a:ext cx="5029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Последствия отказа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Обесточено участков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Протяжённость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377,6 км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Ответвлений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Опор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3 834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 расчёта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 мс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o22_1t"/>
          <p:cNvSpPr txBox="1"/>
          <p:nvPr/>
        </p:nvSpPr>
        <p:spPr>
          <a:xfrm>
            <a:off x="6675120" y="3840480"/>
            <a:ext cx="502920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Подстанция питает разветвлённую сеть 22 кВ без резерва – требуется резервирование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в QGIS совпали с автономным расчётом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Некритичный объект: ВЛ 420 кВ Rød–Hasle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pic>
        <p:nvPicPr>
          <p:cNvPr id="8" name="Image 2" descr="deck2/norge_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68680"/>
            <a:ext cx="6309360" cy="5257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760" y="614476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Магистраль 420 кВ отключена целиком (16 участков)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914400"/>
          <a:ext cx="3931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Отключено участков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Обесточено участков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Протяжённость обесточенных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 км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o23_1t"/>
          <p:cNvSpPr txBox="1"/>
          <p:nvPr/>
        </p:nvSpPr>
        <p:spPr>
          <a:xfrm>
            <a:off x="7772400" y="3017520"/>
            <a:ext cx="393192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Сеть 420 кВ кольцевая – питание сохраняется по другим связям</a:t>
            </a:r>
            <a:endParaRPr lang="en-US" sz="1800" dirty="0"/>
          </a:p>
          <a:p>
            <a:pPr marL="203200" indent="-203200">
              <a:spcBef>
                <a:spcPts val="500"/>
              </a:spcBef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Крупная линия не обязательно критична: критичность определяет расчёт связности, а не класс напряжения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эксперимента: автоматизированный и ручной анализ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566928"/>
            <a:ext cx="1074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3 · задача 7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5760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6459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Ручной анализ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Автоматизированный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отказа одного элемента (среднее)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14 мс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N-1 всех линий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11 600 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N-1 всех подстанций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237 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Доля отказов, проанализированных за 5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Хронометраж (авария на 73 участка)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из 73 за 18,9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 из 73 за 0,22 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Совпадение с эталонным расчётом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 из 360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2" descr="deck2/oper_cd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89760"/>
            <a:ext cx="5486400" cy="2438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4346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отказов, проанализированных за время не более t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365760" y="57607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Эксперимент: 1000 случайных отказов на сети Норвегии; эталон – полный обход сети; ручной анализ – модель трудоёмкости и хронометраж.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2/logo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6928" cy="612648"/>
          </a:xfrm>
          <a:prstGeom prst="rect">
            <a:avLst/>
          </a:prstGeom>
        </p:spPr>
      </p:pic>
      <p:pic>
        <p:nvPicPr>
          <p:cNvPr id="3" name="Image 1" descr="deck2/logo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0"/>
            <a:ext cx="65836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5486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11686032" y="6373368"/>
            <a:ext cx="438912" cy="42062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1686032" y="6373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30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30936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Проблема, обоснованная в актуальности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 работы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Поиск критических объектов требует анализа отказа каждого элемента – вручную ≈ 11 600 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N-1 всей сети за 4,5 мин; перечень и карта критических объектов (1 131 подстанция, 60 024 линии)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Анализ одного отказа вручную – в среднем 13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Расчёт последствий отказа ≈ 14 мс; доля своевременного анализа 57,4 → 100 %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ГИС-данные не топологические (72 245 висячих концов)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Автоматическое построение топологической модели: 154 722 ребра, 159 543 узла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Риск ошибки при ручном анализе, кольцевые сети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Совпадение с эталоном 360 из 360; резервирование учитывается автоматически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Зависимость от поставщиков коммерческих ГИС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Программный комплекс на открытой цепочке QGIS – Python – GeoPackage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36576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задачи решены, цель работы достигнута.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Повышение оперативности анализа данных об аварийных отключениях электрической сети</dc:title>
  <dc:subject>PptxGenJS Presentation</dc:subject>
  <dc:creator>PptxGenJS</dc:creator>
  <cp:lastModifiedBy>PptxGenJS</cp:lastModifiedBy>
  <cp:revision>1</cp:revision>
  <dcterms:created xsi:type="dcterms:W3CDTF">2026-10-11T18:23:03Z</dcterms:created>
  <dcterms:modified xsi:type="dcterms:W3CDTF">2026-10-11T18:23:03Z</dcterms:modified>
</cp:coreProperties>
</file>